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311" r:id="rId5"/>
    <p:sldId id="262" r:id="rId6"/>
    <p:sldId id="269" r:id="rId8"/>
    <p:sldId id="290" r:id="rId9"/>
    <p:sldId id="257" r:id="rId10"/>
    <p:sldId id="310" r:id="rId11"/>
    <p:sldId id="308" r:id="rId12"/>
    <p:sldId id="291" r:id="rId13"/>
    <p:sldId id="312" r:id="rId14"/>
    <p:sldId id="292" r:id="rId15"/>
    <p:sldId id="303" r:id="rId16"/>
    <p:sldId id="304" r:id="rId17"/>
    <p:sldId id="305" r:id="rId18"/>
    <p:sldId id="306" r:id="rId19"/>
    <p:sldId id="295" r:id="rId20"/>
    <p:sldId id="307" r:id="rId21"/>
    <p:sldId id="294" r:id="rId22"/>
    <p:sldId id="287" r:id="rId23"/>
    <p:sldId id="309" r:id="rId24"/>
    <p:sldId id="270" r:id="rId25"/>
  </p:sldIdLst>
  <p:sldSz cx="9144000" cy="5715000" type="screen16x1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0" autoAdjust="0"/>
    <p:restoredTop sz="94660"/>
  </p:normalViewPr>
  <p:slideViewPr>
    <p:cSldViewPr>
      <p:cViewPr varScale="1">
        <p:scale>
          <a:sx n="83" d="100"/>
          <a:sy n="83" d="100"/>
        </p:scale>
        <p:origin x="606" y="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7D187C5-73B4-4915-A627-54A481FBDD96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161DB6E-3DBF-466E-BCA4-B9C3440B7A8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AE6C72-780E-4567-BD92-41ED3D504BF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dt" sz="quarter" idx="1"/>
          </p:nvPr>
        </p:nvSpPr>
        <p:spPr bwMode="auto"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/>
            </a:pPr>
            <a:r>
              <a:rPr lang="en-GB" altLang="zh-CN" sz="2000" smtClean="0">
                <a:solidFill>
                  <a:srgbClr val="000000"/>
                </a:solidFill>
                <a:latin typeface="Arial" panose="020B0604020202020204" pitchFamily="34" charset="0"/>
              </a:rPr>
              <a:t>2011-11-29</a:t>
            </a:r>
            <a:endParaRPr lang="en-GB" altLang="zh-CN" sz="20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8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B36C64-CB68-44F8-ADDB-5655EAC65EB6}" type="slidenum">
              <a:rPr lang="en-GB" altLang="zh-CN" sz="200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GB" altLang="zh-CN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25425" y="115888"/>
            <a:ext cx="7307263" cy="4567237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222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49168E-3036-4F15-8C53-E6F4899A292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C52EAF-684B-4819-8B69-D9B9380A7A7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93FD46-9281-4D20-BF94-2A4954B4D8D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6D4B1C-426E-45AE-8F7F-9A972A2B43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 userDrawn="1"/>
        </p:nvSpPr>
        <p:spPr>
          <a:xfrm flipH="1">
            <a:off x="101600" y="120650"/>
            <a:ext cx="8964613" cy="4537075"/>
          </a:xfrm>
          <a:prstGeom prst="round1Rect">
            <a:avLst>
              <a:gd name="adj" fmla="val 23534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01600" y="4657725"/>
            <a:ext cx="8964613" cy="8763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841276"/>
            <a:ext cx="7772400" cy="1225021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21C34-485B-4FAF-8844-C64B13B63432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FF6948-269B-4FAD-A787-6810AB4C3EC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 userDrawn="1"/>
        </p:nvSpPr>
        <p:spPr>
          <a:xfrm>
            <a:off x="8008938" y="179388"/>
            <a:ext cx="1200150" cy="1857375"/>
          </a:xfrm>
          <a:prstGeom prst="rect">
            <a:avLst/>
          </a:prstGeom>
          <a:noFill/>
        </p:spPr>
        <p:txBody>
          <a:bodyPr vert="ver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资讯</a:t>
            </a:r>
            <a:endParaRPr lang="zh-CN" altLang="en-US" sz="6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943DC-4D7D-455E-992B-F1588B99977C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55B54A-040A-4B28-AC38-A8F75D374E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A84B7-3796-4084-949E-D53C5E77ED88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C1131-2E0D-4632-9175-D962B3CB133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0"/>
          <p:cNvSpPr txBox="1"/>
          <p:nvPr userDrawn="1"/>
        </p:nvSpPr>
        <p:spPr>
          <a:xfrm>
            <a:off x="8008938" y="179388"/>
            <a:ext cx="1200150" cy="2894012"/>
          </a:xfrm>
          <a:prstGeom prst="rect">
            <a:avLst/>
          </a:prstGeom>
          <a:noFill/>
        </p:spPr>
        <p:txBody>
          <a:bodyPr vert="ver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大事件</a:t>
            </a:r>
            <a:endParaRPr lang="zh-CN" altLang="en-US" sz="6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3CAC1-353D-4A84-B609-FD9AE08D3C3C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2F8972-84B2-4248-B161-C5D2116D7BE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FD824-085D-453E-980A-763E24A1D924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27C52F-74DD-4803-932B-C7AFDEAE9F4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592F5-0225-4D3E-BE40-9D2A10E421A6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EF40E8-0721-4157-A9F0-829FDC4C32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C8B14-849B-440F-AC05-66F887A1E7AA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FB34B-A206-428D-AF19-E114EA5379A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8AC2D-AB54-453B-B073-608E6737ADA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A6FFD-DE3B-4815-B619-2C077E51802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0121A-92DE-43F3-831D-2F5570DA1B07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4B4AF-0640-4245-9899-442F1F1648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9408B-501C-4719-8A1C-5F5869B70C50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9C414-A0E0-4C2E-93BF-5A26C1A19E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0F8EB-B3F9-47FA-8258-2646F25D33AC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A0098D-866C-4719-8AED-6ED1FC53238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CC911F13-3F1A-4720-85D6-78F36DD099BD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A21CE185-093B-4FD7-AF7A-9376D581A8A9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6AF1BB70-AA7D-45B2-A955-53EA397F41B3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333500"/>
            <a:ext cx="4037013" cy="37689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333500"/>
            <a:ext cx="4037012" cy="37689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6E4B5C49-DD0D-4E57-82CB-F1391584952A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352A23D8-A606-44AB-BBB2-4C8910354B17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F893FF6F-6D19-4326-9128-92287BAE783D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0C79DD9D-E7E4-4950-B161-7A0AB9BA3B41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492611BA-64F7-4798-96AB-E20409C6D5DF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DE19A631-6FE6-4A97-9BE4-34EEB6CCFFD3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6460AA3B-EB78-47BA-8519-E889DCFD9299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7813" y="457730"/>
            <a:ext cx="2055812" cy="4644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457730"/>
            <a:ext cx="6018213" cy="464476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26A8783B-CF2E-42C9-965F-4142B0B33BB1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457729"/>
            <a:ext cx="8226425" cy="6574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Tx/>
              <a:buSzTx/>
              <a:buFontTx/>
              <a:buNone/>
              <a:defRPr>
                <a:latin typeface="Calibri" panose="020F0502020204030204" pitchFamily="34" charset="0"/>
              </a:defRPr>
            </a:lvl1pPr>
          </a:lstStyle>
          <a:p>
            <a:fld id="{3C7A8D47-E968-4982-AD49-8CF1942E68A3}" type="slidenum">
              <a:rPr lang="en-GB" altLang="zh-CN"/>
            </a:fld>
            <a:endParaRPr lang="en-GB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CC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 userDrawn="1"/>
        </p:nvSpPr>
        <p:spPr>
          <a:xfrm flipV="1">
            <a:off x="8172450" y="4800600"/>
            <a:ext cx="863600" cy="792163"/>
          </a:xfrm>
          <a:prstGeom prst="round1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单圆角矩形 9"/>
          <p:cNvSpPr/>
          <p:nvPr userDrawn="1"/>
        </p:nvSpPr>
        <p:spPr>
          <a:xfrm>
            <a:off x="8172450" y="120650"/>
            <a:ext cx="863600" cy="4679950"/>
          </a:xfrm>
          <a:prstGeom prst="round1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8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B9F4019-11D8-47CC-9809-5320A9AC522F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807816A-50A5-42D4-BB3F-6DD3FC0491C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CC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642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/>
          <a:lstStyle/>
          <a:p>
            <a:pPr lvl="0"/>
            <a:r>
              <a:rPr lang="zh-CN" altLang="en-GB" smtClean="0"/>
              <a:t>单击此处编辑标题文的格式</a:t>
            </a:r>
            <a:endParaRPr lang="zh-CN" altLang="en-GB" smtClean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33500"/>
            <a:ext cx="8226425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GB" smtClean="0"/>
              <a:t>单击此处编辑大纲正文的格式</a:t>
            </a:r>
            <a:endParaRPr lang="zh-CN" altLang="en-GB" smtClean="0"/>
          </a:p>
          <a:p>
            <a:pPr lvl="1"/>
            <a:r>
              <a:rPr lang="zh-CN" altLang="en-GB" smtClean="0"/>
              <a:t>第二个大纲级</a:t>
            </a:r>
            <a:endParaRPr lang="zh-CN" altLang="en-GB" smtClean="0"/>
          </a:p>
          <a:p>
            <a:pPr lvl="2"/>
            <a:r>
              <a:rPr lang="zh-CN" altLang="en-GB" smtClean="0"/>
              <a:t>第三个大纲级</a:t>
            </a:r>
            <a:endParaRPr lang="zh-CN" altLang="en-GB" smtClean="0"/>
          </a:p>
          <a:p>
            <a:pPr lvl="3"/>
            <a:r>
              <a:rPr lang="zh-CN" altLang="en-GB" smtClean="0"/>
              <a:t>第四个大纲级</a:t>
            </a:r>
            <a:endParaRPr lang="zh-CN" altLang="en-GB" smtClean="0"/>
          </a:p>
          <a:p>
            <a:pPr lvl="4"/>
            <a:r>
              <a:rPr lang="zh-CN" altLang="en-GB" smtClean="0"/>
              <a:t>第五个大纲级</a:t>
            </a:r>
            <a:endParaRPr lang="zh-CN" altLang="en-GB" smtClean="0"/>
          </a:p>
          <a:p>
            <a:pPr lvl="4"/>
            <a:r>
              <a:rPr lang="zh-CN" altLang="en-GB" smtClean="0"/>
              <a:t>第六个大纲级</a:t>
            </a:r>
            <a:endParaRPr lang="zh-CN" altLang="en-GB" smtClean="0"/>
          </a:p>
          <a:p>
            <a:pPr lvl="4"/>
            <a:r>
              <a:rPr lang="zh-CN" altLang="en-GB" smtClean="0"/>
              <a:t>第七个大纲级</a:t>
            </a:r>
            <a:endParaRPr lang="zh-CN" altLang="en-GB" smtClean="0"/>
          </a:p>
          <a:p>
            <a:pPr lvl="4"/>
            <a:r>
              <a:rPr lang="zh-CN" altLang="en-GB" smtClean="0"/>
              <a:t>第八个大纲级</a:t>
            </a:r>
            <a:endParaRPr lang="zh-CN" altLang="en-GB" smtClean="0"/>
          </a:p>
          <a:p>
            <a:pPr lvl="4"/>
            <a:r>
              <a:rPr lang="zh-CN" altLang="en-GB" smtClean="0"/>
              <a:t>第九个大纲级</a:t>
            </a:r>
            <a:endParaRPr lang="zh-CN" altLang="en-GB" smtClean="0"/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124200" y="4733925"/>
            <a:ext cx="2895600" cy="1431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449580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875463" y="55563"/>
            <a:ext cx="2130425" cy="3016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algn="r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 sz="1200" b="1">
                <a:solidFill>
                  <a:srgbClr val="0070C0"/>
                </a:solidFill>
                <a:latin typeface="Arial" panose="020B0604020202020204" pitchFamily="34" charset="0"/>
              </a:defRPr>
            </a:lvl1pPr>
          </a:lstStyle>
          <a:p>
            <a:fld id="{5CFD4830-D3CF-4B57-8748-BB6FBFDBED99}" type="slidenum">
              <a:rPr lang="en-GB" altLang="zh-CN"/>
            </a:fld>
            <a:endParaRPr lang="en-GB" altLang="zh-CN"/>
          </a:p>
        </p:txBody>
      </p:sp>
      <p:sp>
        <p:nvSpPr>
          <p:cNvPr id="2054" name="Line 5"/>
          <p:cNvSpPr>
            <a:spLocks noChangeShapeType="1"/>
          </p:cNvSpPr>
          <p:nvPr/>
        </p:nvSpPr>
        <p:spPr bwMode="auto">
          <a:xfrm>
            <a:off x="0" y="338138"/>
            <a:ext cx="9144000" cy="0"/>
          </a:xfrm>
          <a:prstGeom prst="line">
            <a:avLst/>
          </a:prstGeom>
          <a:noFill/>
          <a:ln w="6480">
            <a:solidFill>
              <a:srgbClr val="7F7F7F"/>
            </a:solidFill>
            <a:prstDash val="sysDot"/>
            <a:miter lim="800000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5" name="Line 6"/>
          <p:cNvSpPr>
            <a:spLocks noChangeShapeType="1"/>
          </p:cNvSpPr>
          <p:nvPr/>
        </p:nvSpPr>
        <p:spPr bwMode="auto">
          <a:xfrm>
            <a:off x="0" y="5346700"/>
            <a:ext cx="9144000" cy="1588"/>
          </a:xfrm>
          <a:prstGeom prst="line">
            <a:avLst/>
          </a:prstGeom>
          <a:noFill/>
          <a:ln w="6480">
            <a:solidFill>
              <a:srgbClr val="7F7F7F"/>
            </a:solidFill>
            <a:prstDash val="dash"/>
            <a:miter lim="800000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6" name="Oval 7"/>
          <p:cNvSpPr>
            <a:spLocks noChangeArrowheads="1"/>
          </p:cNvSpPr>
          <p:nvPr/>
        </p:nvSpPr>
        <p:spPr bwMode="auto">
          <a:xfrm>
            <a:off x="179388" y="147638"/>
            <a:ext cx="107950" cy="90487"/>
          </a:xfrm>
          <a:prstGeom prst="ellipse">
            <a:avLst/>
          </a:prstGeom>
          <a:solidFill>
            <a:srgbClr val="F2F2F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449580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7" name="Oval 8"/>
          <p:cNvSpPr>
            <a:spLocks noChangeArrowheads="1"/>
          </p:cNvSpPr>
          <p:nvPr/>
        </p:nvSpPr>
        <p:spPr bwMode="auto">
          <a:xfrm>
            <a:off x="496888" y="147638"/>
            <a:ext cx="144462" cy="120650"/>
          </a:xfrm>
          <a:prstGeom prst="ellipse">
            <a:avLst/>
          </a:prstGeom>
          <a:solidFill>
            <a:srgbClr val="D8D8D8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449580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Oval 9"/>
          <p:cNvSpPr>
            <a:spLocks noChangeArrowheads="1"/>
          </p:cNvSpPr>
          <p:nvPr/>
        </p:nvSpPr>
        <p:spPr bwMode="auto">
          <a:xfrm>
            <a:off x="330200" y="147638"/>
            <a:ext cx="125413" cy="104775"/>
          </a:xfrm>
          <a:prstGeom prst="ellipse">
            <a:avLst/>
          </a:prstGeom>
          <a:solidFill>
            <a:srgbClr val="BFBFB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449580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9" name="Oval 10"/>
          <p:cNvSpPr>
            <a:spLocks noChangeArrowheads="1"/>
          </p:cNvSpPr>
          <p:nvPr/>
        </p:nvSpPr>
        <p:spPr bwMode="auto">
          <a:xfrm>
            <a:off x="684213" y="147638"/>
            <a:ext cx="161925" cy="134937"/>
          </a:xfrm>
          <a:prstGeom prst="ellipse">
            <a:avLst/>
          </a:prstGeom>
          <a:solidFill>
            <a:srgbClr val="BFBFBF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449580" eaLnBrk="0" hangingPunct="0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  <a:defRPr/>
            </a:pPr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60" name="Group 11"/>
          <p:cNvGrpSpPr/>
          <p:nvPr/>
        </p:nvGrpSpPr>
        <p:grpSpPr bwMode="auto">
          <a:xfrm>
            <a:off x="161925" y="5429250"/>
            <a:ext cx="141288" cy="119063"/>
            <a:chOff x="102" y="4104"/>
            <a:chExt cx="89" cy="90"/>
          </a:xfrm>
        </p:grpSpPr>
        <p:sp>
          <p:nvSpPr>
            <p:cNvPr id="2065" name="Oval 12"/>
            <p:cNvSpPr>
              <a:spLocks noChangeArrowheads="1"/>
            </p:cNvSpPr>
            <p:nvPr/>
          </p:nvSpPr>
          <p:spPr bwMode="auto">
            <a:xfrm>
              <a:off x="125" y="4127"/>
              <a:ext cx="45" cy="46"/>
            </a:xfrm>
            <a:prstGeom prst="ellips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 wrap="none" anchor="ctr"/>
            <a:lstStyle/>
            <a:p>
              <a:pPr defTabSz="449580" eaLnBrk="0" hangingPunct="0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zh-CN" altLang="en-US" sz="2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6" name="Line 13"/>
            <p:cNvSpPr>
              <a:spLocks noChangeShapeType="1"/>
            </p:cNvSpPr>
            <p:nvPr/>
          </p:nvSpPr>
          <p:spPr bwMode="auto">
            <a:xfrm>
              <a:off x="102" y="4150"/>
              <a:ext cx="90" cy="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7" name="Line 14"/>
            <p:cNvSpPr>
              <a:spLocks noChangeShapeType="1"/>
            </p:cNvSpPr>
            <p:nvPr/>
          </p:nvSpPr>
          <p:spPr bwMode="auto">
            <a:xfrm>
              <a:off x="147" y="4104"/>
              <a:ext cx="1" cy="9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061" name="Group 15"/>
          <p:cNvGrpSpPr/>
          <p:nvPr/>
        </p:nvGrpSpPr>
        <p:grpSpPr bwMode="auto">
          <a:xfrm>
            <a:off x="8893175" y="5443538"/>
            <a:ext cx="141288" cy="119062"/>
            <a:chOff x="5602" y="4115"/>
            <a:chExt cx="89" cy="90"/>
          </a:xfrm>
        </p:grpSpPr>
        <p:sp>
          <p:nvSpPr>
            <p:cNvPr id="2062" name="Oval 16"/>
            <p:cNvSpPr>
              <a:spLocks noChangeArrowheads="1"/>
            </p:cNvSpPr>
            <p:nvPr/>
          </p:nvSpPr>
          <p:spPr bwMode="auto">
            <a:xfrm>
              <a:off x="5625" y="4138"/>
              <a:ext cx="45" cy="46"/>
            </a:xfrm>
            <a:prstGeom prst="ellips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 wrap="none" anchor="ctr"/>
            <a:lstStyle/>
            <a:p>
              <a:pPr defTabSz="449580" eaLnBrk="0" hangingPunct="0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defRPr/>
              </a:pPr>
              <a:endParaRPr lang="zh-CN" altLang="en-US" sz="20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3" name="Line 17"/>
            <p:cNvSpPr>
              <a:spLocks noChangeShapeType="1"/>
            </p:cNvSpPr>
            <p:nvPr/>
          </p:nvSpPr>
          <p:spPr bwMode="auto">
            <a:xfrm>
              <a:off x="5602" y="4161"/>
              <a:ext cx="90" cy="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4" name="Line 18"/>
            <p:cNvSpPr>
              <a:spLocks noChangeShapeType="1"/>
            </p:cNvSpPr>
            <p:nvPr/>
          </p:nvSpPr>
          <p:spPr bwMode="auto">
            <a:xfrm>
              <a:off x="5647" y="4115"/>
              <a:ext cx="1" cy="9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4400">
          <a:solidFill>
            <a:srgbClr val="000000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68605" indent="-268605" algn="l" defTabSz="449580" rtl="0" eaLnBrk="0" fontAlgn="base" hangingPunct="0">
        <a:spcBef>
          <a:spcPts val="64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584200" indent="-225425" algn="l" defTabSz="449580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900430" indent="-179705" algn="l" defTabSz="449580" rtl="0" eaLnBrk="0" fontAlgn="base" hangingPunct="0">
        <a:spcBef>
          <a:spcPts val="475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26238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162433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08153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53873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299593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453130" indent="-179705" algn="l" defTabSz="44958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8313" y="1055688"/>
            <a:ext cx="7772400" cy="122555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 smtClean="0"/>
              <a:t>述职报告书</a:t>
            </a:r>
            <a:endParaRPr lang="zh-CN" altLang="en-US" sz="4400" dirty="0"/>
          </a:p>
        </p:txBody>
      </p:sp>
      <p:sp>
        <p:nvSpPr>
          <p:cNvPr id="13316" name="TextBox 7"/>
          <p:cNvSpPr txBox="1">
            <a:spLocks noChangeArrowheads="1"/>
          </p:cNvSpPr>
          <p:nvPr/>
        </p:nvSpPr>
        <p:spPr bwMode="auto">
          <a:xfrm>
            <a:off x="5645313" y="4849244"/>
            <a:ext cx="2723823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开普电子股份有限公司</a:t>
            </a:r>
            <a:endParaRPr lang="zh-CN" altLang="en-US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13773" y="1693228"/>
            <a:ext cx="11785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21" name="Picture 9" descr="http://pica.nipic.com/2008-05-08/200858142654232_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3286125"/>
            <a:ext cx="42735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316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DB24A6-90AA-44D7-892A-712C21183144}" type="slidenum">
              <a:rPr lang="zh-CN" altLang="en-US">
                <a:solidFill>
                  <a:prstClr val="white"/>
                </a:solidFill>
              </a:rPr>
            </a:fld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1749" name="Rectangle 14"/>
            <p:cNvSpPr>
              <a:spLocks noChangeArrowheads="1"/>
            </p:cNvSpPr>
            <p:nvPr/>
          </p:nvSpPr>
          <p:spPr bwMode="auto">
            <a:xfrm>
              <a:off x="430213" y="501482"/>
              <a:ext cx="5584825" cy="48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2400" b="1" dirty="0" smtClean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写在前面的话</a:t>
              </a:r>
              <a:endParaRPr lang="zh-CN" altLang="en-US" sz="2400" b="1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单圆角矩形 6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单圆角矩形 16"/>
          <p:cNvSpPr/>
          <p:nvPr/>
        </p:nvSpPr>
        <p:spPr>
          <a:xfrm flipH="1" flipV="1">
            <a:off x="4211960" y="3107657"/>
            <a:ext cx="4173538" cy="1943547"/>
          </a:xfrm>
          <a:prstGeom prst="round1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单圆角矩形 3"/>
          <p:cNvSpPr/>
          <p:nvPr/>
        </p:nvSpPr>
        <p:spPr>
          <a:xfrm flipH="1">
            <a:off x="141288" y="120650"/>
            <a:ext cx="8751192" cy="2663825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628146" y="249864"/>
            <a:ext cx="4319587" cy="581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自我介绍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8" name="Picture 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375" y="389224"/>
            <a:ext cx="1946275" cy="227363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2627193" y="972176"/>
            <a:ext cx="5476875" cy="1690687"/>
            <a:chOff x="2389188" y="985838"/>
            <a:chExt cx="5476875" cy="1690687"/>
          </a:xfrm>
        </p:grpSpPr>
        <p:sp>
          <p:nvSpPr>
            <p:cNvPr id="10" name="圆角矩形 9"/>
            <p:cNvSpPr/>
            <p:nvPr/>
          </p:nvSpPr>
          <p:spPr bwMode="auto">
            <a:xfrm>
              <a:off x="2389188" y="985838"/>
              <a:ext cx="5476875" cy="1690687"/>
            </a:xfrm>
            <a:prstGeom prst="roundRect">
              <a:avLst>
                <a:gd name="adj" fmla="val 7060"/>
              </a:avLst>
            </a:prstGeom>
            <a:solidFill>
              <a:schemeClr val="tx1">
                <a:lumMod val="75000"/>
                <a:lumOff val="25000"/>
                <a:alpha val="16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442" name="矩形 10"/>
            <p:cNvSpPr>
              <a:spLocks noChangeArrowheads="1"/>
            </p:cNvSpPr>
            <p:nvPr/>
          </p:nvSpPr>
          <p:spPr bwMode="auto">
            <a:xfrm>
              <a:off x="2484438" y="1128713"/>
              <a:ext cx="5381625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姓名：徐伟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            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出生年月：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1991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09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籍贯：湖南</a:t>
              </a:r>
              <a:endPara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政治面貌：中共党员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毕业院校：成都航空职业技术学院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8065" y="3266369"/>
            <a:ext cx="3671887" cy="1711017"/>
            <a:chOff x="179388" y="3266369"/>
            <a:chExt cx="3671887" cy="1711017"/>
          </a:xfrm>
        </p:grpSpPr>
        <p:sp>
          <p:nvSpPr>
            <p:cNvPr id="18444" name="矩形 3"/>
            <p:cNvSpPr>
              <a:spLocks noChangeArrowheads="1"/>
            </p:cNvSpPr>
            <p:nvPr/>
          </p:nvSpPr>
          <p:spPr bwMode="auto">
            <a:xfrm>
              <a:off x="179388" y="3266369"/>
              <a:ext cx="15696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生活人际的我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45" name="矩形 7"/>
            <p:cNvSpPr>
              <a:spLocks noChangeArrowheads="1"/>
            </p:cNvSpPr>
            <p:nvPr/>
          </p:nvSpPr>
          <p:spPr bwMode="auto">
            <a:xfrm>
              <a:off x="179388" y="3832798"/>
              <a:ext cx="3671887" cy="1144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IT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烂人一个，干了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年；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1400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14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软件、硬件、服务器、数据库、笔记本；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1400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lnSpc>
                  <a:spcPct val="114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Freedom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 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Support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SEO&amp;CIO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等；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446" name="TextBox 10"/>
          <p:cNvSpPr txBox="1">
            <a:spLocks noChangeArrowheads="1"/>
          </p:cNvSpPr>
          <p:nvPr/>
        </p:nvSpPr>
        <p:spPr bwMode="auto">
          <a:xfrm>
            <a:off x="4307984" y="3281758"/>
            <a:ext cx="1415772" cy="338554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工作学习的我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7"/>
          <p:cNvSpPr>
            <a:spLocks noChangeArrowheads="1"/>
          </p:cNvSpPr>
          <p:nvPr/>
        </p:nvSpPr>
        <p:spPr bwMode="auto">
          <a:xfrm>
            <a:off x="4394523" y="4043142"/>
            <a:ext cx="3671887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ERICSSON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Schneider-electric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FEDEX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PFIZER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、南都、万科、地税系统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44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4"/>
          <p:cNvSpPr/>
          <p:nvPr/>
        </p:nvSpPr>
        <p:spPr>
          <a:xfrm flipV="1">
            <a:off x="4610100" y="227013"/>
            <a:ext cx="4357688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68750" y="962025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46800" y="2497138"/>
            <a:ext cx="1108075" cy="2170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16D97C-6E77-448C-BBAA-B9074A241164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单圆角矩形 4"/>
          <p:cNvSpPr/>
          <p:nvPr/>
        </p:nvSpPr>
        <p:spPr>
          <a:xfrm flipV="1">
            <a:off x="4610100" y="227013"/>
            <a:ext cx="4357688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68750" y="962025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46800" y="2497138"/>
            <a:ext cx="1108075" cy="2170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9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3"/>
          <p:cNvSpPr>
            <a:spLocks noChangeArrowheads="1"/>
          </p:cNvSpPr>
          <p:nvPr/>
        </p:nvSpPr>
        <p:spPr bwMode="auto">
          <a:xfrm>
            <a:off x="428624" y="1056134"/>
            <a:ext cx="615959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177800" indent="-1778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我们的宗旨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（为</a:t>
            </a:r>
            <a:r>
              <a:rPr lang="zh-CN" alt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用户服务，我们能做的更好</a:t>
            </a: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！）</a:t>
            </a: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我们的核心价值观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（以</a:t>
            </a:r>
            <a:r>
              <a:rPr lang="zh-CN" alt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人为本、共同成长。鼓励创新、注重细节。关注过程、重视</a:t>
            </a: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结果）</a:t>
            </a:r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0728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 dirty="0" smtClean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走进新开普</a:t>
              </a:r>
              <a:endParaRPr lang="zh-CN" altLang="en-US" sz="1600" b="1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单圆角矩形 13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" name="Group 2"/>
          <p:cNvGrpSpPr/>
          <p:nvPr/>
        </p:nvGrpSpPr>
        <p:grpSpPr bwMode="auto">
          <a:xfrm>
            <a:off x="227013" y="2713038"/>
            <a:ext cx="5929312" cy="638175"/>
            <a:chOff x="227013" y="2713038"/>
            <a:chExt cx="5929312" cy="638175"/>
          </a:xfrm>
        </p:grpSpPr>
        <p:sp>
          <p:nvSpPr>
            <p:cNvPr id="30726" name="Rectangle 15"/>
            <p:cNvSpPr>
              <a:spLocks noChangeArrowheads="1"/>
            </p:cNvSpPr>
            <p:nvPr/>
          </p:nvSpPr>
          <p:spPr bwMode="auto">
            <a:xfrm>
              <a:off x="468313" y="2713038"/>
              <a:ext cx="5688012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 dirty="0" smtClean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了解新开普</a:t>
              </a:r>
              <a:endParaRPr lang="zh-CN" altLang="en-US" sz="1600" b="1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单圆角矩形 14"/>
            <p:cNvSpPr/>
            <p:nvPr/>
          </p:nvSpPr>
          <p:spPr>
            <a:xfrm>
              <a:off x="227013" y="2713038"/>
              <a:ext cx="144462" cy="638175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5371" name="Rectangle 13"/>
          <p:cNvSpPr>
            <a:spLocks noChangeArrowheads="1"/>
          </p:cNvSpPr>
          <p:nvPr/>
        </p:nvSpPr>
        <p:spPr bwMode="auto">
          <a:xfrm>
            <a:off x="468313" y="3289300"/>
            <a:ext cx="5437187" cy="170815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marL="177800" indent="-1778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根据张海伟的要求制定流向开发；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（需求都以清楚，自己也有新的想法）</a:t>
            </a: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及时处理每月上交上来的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流向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一直在做</a:t>
            </a: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上级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交办的其他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153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AD4594-7DAD-498B-91CA-6CDDFC335C31}" type="slidenum">
              <a:rPr lang="en-GB" altLang="zh-CN">
                <a:solidFill>
                  <a:srgbClr val="0070C0"/>
                </a:solidFill>
                <a:latin typeface="Arial" panose="020B0604020202020204" pitchFamily="34" charset="0"/>
              </a:rPr>
            </a:fld>
            <a:endParaRPr lang="en-GB" altLang="zh-CN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733800" y="1966913"/>
            <a:ext cx="50403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根据工作经验、对公司业务体系的了解，改变工作方式</a:t>
            </a:r>
            <a:endParaRPr lang="en-GB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9" name="Rectangle 3"/>
          <p:cNvSpPr>
            <a:spLocks noChangeArrowheads="1"/>
          </p:cNvSpPr>
          <p:nvPr/>
        </p:nvSpPr>
        <p:spPr bwMode="auto">
          <a:xfrm>
            <a:off x="3733800" y="2768600"/>
            <a:ext cx="50403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默默工作，感受工作痛苦</a:t>
            </a:r>
            <a:endParaRPr lang="en-GB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0" name="Rectangle 4"/>
          <p:cNvSpPr>
            <a:spLocks noChangeArrowheads="1"/>
          </p:cNvSpPr>
          <p:nvPr/>
        </p:nvSpPr>
        <p:spPr bwMode="auto">
          <a:xfrm>
            <a:off x="3733800" y="3594100"/>
            <a:ext cx="50403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了解公司、部门、人员</a:t>
            </a:r>
            <a:endParaRPr lang="en-GB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1" name="Rectangle 5"/>
          <p:cNvSpPr>
            <a:spLocks noChangeArrowheads="1"/>
          </p:cNvSpPr>
          <p:nvPr/>
        </p:nvSpPr>
        <p:spPr bwMode="auto">
          <a:xfrm>
            <a:off x="3733800" y="4316413"/>
            <a:ext cx="504031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进入公司，低调入职</a:t>
            </a:r>
            <a:endParaRPr lang="en-GB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28600" y="1201738"/>
            <a:ext cx="3346450" cy="4125912"/>
            <a:chOff x="144" y="908"/>
            <a:chExt cx="2108" cy="3119"/>
          </a:xfrm>
        </p:grpSpPr>
        <p:sp>
          <p:nvSpPr>
            <p:cNvPr id="32790" name="AutoShape 7"/>
            <p:cNvSpPr>
              <a:spLocks noChangeArrowheads="1"/>
            </p:cNvSpPr>
            <p:nvPr/>
          </p:nvSpPr>
          <p:spPr bwMode="auto">
            <a:xfrm>
              <a:off x="144" y="908"/>
              <a:ext cx="2109" cy="3120"/>
            </a:xfrm>
            <a:prstGeom prst="upArrow">
              <a:avLst>
                <a:gd name="adj1" fmla="val 50000"/>
                <a:gd name="adj2" fmla="val 49997"/>
              </a:avLst>
            </a:prstGeom>
            <a:solidFill>
              <a:srgbClr val="00A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defTabSz="44958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44958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44958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44958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44958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</a:pPr>
              <a:endParaRPr lang="zh-CN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37" name="AutoShape 8"/>
            <p:cNvSpPr>
              <a:spLocks noChangeArrowheads="1"/>
            </p:cNvSpPr>
            <p:nvPr/>
          </p:nvSpPr>
          <p:spPr bwMode="auto">
            <a:xfrm>
              <a:off x="528" y="1632"/>
              <a:ext cx="1361" cy="45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>
              <a:solidFill>
                <a:srgbClr val="00ADDC"/>
              </a:solidFill>
              <a:miter lim="800000"/>
            </a:ln>
            <a:effectLst/>
          </p:spPr>
          <p:txBody>
            <a:bodyPr lIns="90000" tIns="46800" rIns="90000" bIns="46800" anchor="ctr"/>
            <a:lstStyle/>
            <a:p>
              <a:pPr algn="ctr" defTabSz="449580" eaLnBrk="0" hangingPunct="0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/>
              </a:pPr>
              <a:r>
                <a:rPr lang="zh-CN" altLang="en-US" sz="1600" u="sng" dirty="0">
                  <a:solidFill>
                    <a:srgbClr val="000000"/>
                  </a:solidFill>
                  <a:uFill>
                    <a:solidFill>
                      <a:srgbClr val="FF0000"/>
                    </a:solidFill>
                  </a:uFill>
                  <a:latin typeface="微软雅黑" panose="020B0503020204020204" pitchFamily="34" charset="-122"/>
                  <a:ea typeface="宋体" panose="02010600030101010101" pitchFamily="2" charset="-122"/>
                </a:rPr>
                <a:t>思考</a:t>
              </a:r>
              <a:endParaRPr lang="en-GB" altLang="zh-CN" sz="1600" u="sng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  <a:latin typeface="微软雅黑" panose="020B0503020204020204" pitchFamily="34" charset="-122"/>
                <a:ea typeface="宋体" panose="02010600030101010101" pitchFamily="2" charset="-122"/>
              </a:endParaRPr>
            </a:p>
          </p:txBody>
        </p:sp>
        <p:sp>
          <p:nvSpPr>
            <p:cNvPr id="32792" name="AutoShape 9"/>
            <p:cNvSpPr>
              <a:spLocks noChangeArrowheads="1"/>
            </p:cNvSpPr>
            <p:nvPr/>
          </p:nvSpPr>
          <p:spPr bwMode="auto">
            <a:xfrm>
              <a:off x="528" y="2175"/>
              <a:ext cx="1361" cy="5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>
              <a:solidFill>
                <a:srgbClr val="00ADDC"/>
              </a:solidFill>
              <a:miter lim="800000"/>
            </a:ln>
          </p:spPr>
          <p:txBody>
            <a:bodyPr lIns="90000" tIns="46800" rIns="90000" bIns="46800" anchor="ctr"/>
            <a:lstStyle>
              <a:lvl1pPr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</a:rPr>
                <a:t>工作</a:t>
              </a:r>
              <a:endParaRPr lang="en-GB" altLang="zh-CN" sz="160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793" name="AutoShape 10"/>
            <p:cNvSpPr>
              <a:spLocks noChangeArrowheads="1"/>
            </p:cNvSpPr>
            <p:nvPr/>
          </p:nvSpPr>
          <p:spPr bwMode="auto">
            <a:xfrm>
              <a:off x="528" y="2810"/>
              <a:ext cx="1361" cy="45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>
              <a:solidFill>
                <a:srgbClr val="00ADDC"/>
              </a:solidFill>
              <a:miter lim="800000"/>
            </a:ln>
          </p:spPr>
          <p:txBody>
            <a:bodyPr lIns="90000" tIns="46800" rIns="90000" bIns="46800" anchor="ctr"/>
            <a:lstStyle>
              <a:lvl1pPr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</a:rPr>
                <a:t>了解</a:t>
              </a:r>
              <a:endParaRPr lang="en-GB" altLang="zh-CN" sz="160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794" name="AutoShape 12"/>
            <p:cNvSpPr>
              <a:spLocks noChangeArrowheads="1"/>
            </p:cNvSpPr>
            <p:nvPr/>
          </p:nvSpPr>
          <p:spPr bwMode="auto">
            <a:xfrm>
              <a:off x="528" y="1103"/>
              <a:ext cx="1361" cy="45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>
              <a:solidFill>
                <a:srgbClr val="00ADDC"/>
              </a:solidFill>
              <a:miter lim="800000"/>
            </a:ln>
          </p:spPr>
          <p:txBody>
            <a:bodyPr lIns="90000" tIns="46800" rIns="90000" bIns="46800" anchor="ctr"/>
            <a:lstStyle>
              <a:lvl1pPr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</a:rPr>
                <a:t>提升</a:t>
              </a:r>
              <a:endParaRPr lang="en-GB" altLang="zh-CN" sz="160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795" name="AutoShape 11"/>
            <p:cNvSpPr>
              <a:spLocks noChangeArrowheads="1"/>
            </p:cNvSpPr>
            <p:nvPr/>
          </p:nvSpPr>
          <p:spPr bwMode="auto">
            <a:xfrm>
              <a:off x="528" y="3338"/>
              <a:ext cx="1361" cy="45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560">
              <a:solidFill>
                <a:srgbClr val="00ADDC"/>
              </a:solidFill>
              <a:miter lim="800000"/>
            </a:ln>
          </p:spPr>
          <p:txBody>
            <a:bodyPr lIns="90000" tIns="46800" rIns="90000" bIns="46800" anchor="ctr"/>
            <a:lstStyle>
              <a:lvl1pPr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449580" eaLnBrk="0" hangingPunct="0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4958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rgbClr val="000000"/>
                </a:buClr>
                <a:buSzPct val="100000"/>
                <a:buFont typeface="Times New Roman" panose="02020603050405020304" pitchFamily="16" charset="0"/>
                <a:buNone/>
              </a:pPr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</a:rPr>
                <a:t>入岗</a:t>
              </a:r>
              <a:endParaRPr lang="en-GB" altLang="zh-CN" sz="160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6153" name="Rectangle 13"/>
          <p:cNvSpPr>
            <a:spLocks noChangeArrowheads="1"/>
          </p:cNvSpPr>
          <p:nvPr/>
        </p:nvSpPr>
        <p:spPr bwMode="auto">
          <a:xfrm>
            <a:off x="3798888" y="1308100"/>
            <a:ext cx="5040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根据思考结果，再提升工作效率</a:t>
            </a:r>
            <a:endParaRPr lang="en-GB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77" name="Freeform 14"/>
          <p:cNvSpPr>
            <a:spLocks noChangeArrowheads="1"/>
          </p:cNvSpPr>
          <p:nvPr/>
        </p:nvSpPr>
        <p:spPr bwMode="auto">
          <a:xfrm>
            <a:off x="2922588" y="1627188"/>
            <a:ext cx="5992812" cy="430212"/>
          </a:xfrm>
          <a:custGeom>
            <a:avLst/>
            <a:gdLst>
              <a:gd name="T0" fmla="*/ 0 w 5987845"/>
              <a:gd name="T1" fmla="*/ 0 h 516194"/>
              <a:gd name="T2" fmla="*/ 566043 w 5987845"/>
              <a:gd name="T3" fmla="*/ 356559 h 516194"/>
              <a:gd name="T4" fmla="*/ 6047722 w 5987845"/>
              <a:gd name="T5" fmla="*/ 356559 h 516194"/>
              <a:gd name="T6" fmla="*/ 0 60000 65536"/>
              <a:gd name="T7" fmla="*/ 0 60000 65536"/>
              <a:gd name="T8" fmla="*/ 0 60000 65536"/>
              <a:gd name="T9" fmla="*/ 0 w 5987845"/>
              <a:gd name="T10" fmla="*/ 0 h 516194"/>
              <a:gd name="T11" fmla="*/ 5987845 w 5987845"/>
              <a:gd name="T12" fmla="*/ 516194 h 516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87845" h="516194">
                <a:moveTo>
                  <a:pt x="0" y="0"/>
                </a:moveTo>
                <a:lnTo>
                  <a:pt x="560439" y="516194"/>
                </a:lnTo>
                <a:lnTo>
                  <a:pt x="5987845" y="516194"/>
                </a:lnTo>
              </a:path>
            </a:pathLst>
          </a:custGeom>
          <a:noFill/>
          <a:ln w="9360">
            <a:solidFill>
              <a:srgbClr val="7F7F7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8" name="Freeform 15"/>
          <p:cNvSpPr>
            <a:spLocks noChangeArrowheads="1"/>
          </p:cNvSpPr>
          <p:nvPr/>
        </p:nvSpPr>
        <p:spPr bwMode="auto">
          <a:xfrm>
            <a:off x="2922588" y="2259013"/>
            <a:ext cx="5992812" cy="431800"/>
          </a:xfrm>
          <a:custGeom>
            <a:avLst/>
            <a:gdLst>
              <a:gd name="T0" fmla="*/ 0 w 5987845"/>
              <a:gd name="T1" fmla="*/ 0 h 516194"/>
              <a:gd name="T2" fmla="*/ 566043 w 5987845"/>
              <a:gd name="T3" fmla="*/ 370172 h 516194"/>
              <a:gd name="T4" fmla="*/ 6047722 w 5987845"/>
              <a:gd name="T5" fmla="*/ 370172 h 516194"/>
              <a:gd name="T6" fmla="*/ 0 60000 65536"/>
              <a:gd name="T7" fmla="*/ 0 60000 65536"/>
              <a:gd name="T8" fmla="*/ 0 60000 65536"/>
              <a:gd name="T9" fmla="*/ 0 w 5987845"/>
              <a:gd name="T10" fmla="*/ 0 h 516194"/>
              <a:gd name="T11" fmla="*/ 5987845 w 5987845"/>
              <a:gd name="T12" fmla="*/ 516194 h 516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87845" h="516194">
                <a:moveTo>
                  <a:pt x="0" y="0"/>
                </a:moveTo>
                <a:lnTo>
                  <a:pt x="560439" y="516194"/>
                </a:lnTo>
                <a:lnTo>
                  <a:pt x="5987845" y="516194"/>
                </a:lnTo>
              </a:path>
            </a:pathLst>
          </a:custGeom>
          <a:noFill/>
          <a:ln w="9360">
            <a:solidFill>
              <a:srgbClr val="7F7F7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9" name="Freeform 16"/>
          <p:cNvSpPr>
            <a:spLocks noChangeArrowheads="1"/>
          </p:cNvSpPr>
          <p:nvPr/>
        </p:nvSpPr>
        <p:spPr bwMode="auto">
          <a:xfrm>
            <a:off x="2922588" y="3060700"/>
            <a:ext cx="5992812" cy="430213"/>
          </a:xfrm>
          <a:custGeom>
            <a:avLst/>
            <a:gdLst>
              <a:gd name="T0" fmla="*/ 0 w 5987845"/>
              <a:gd name="T1" fmla="*/ 0 h 516194"/>
              <a:gd name="T2" fmla="*/ 566043 w 5987845"/>
              <a:gd name="T3" fmla="*/ 368812 h 516194"/>
              <a:gd name="T4" fmla="*/ 6047722 w 5987845"/>
              <a:gd name="T5" fmla="*/ 368812 h 516194"/>
              <a:gd name="T6" fmla="*/ 0 60000 65536"/>
              <a:gd name="T7" fmla="*/ 0 60000 65536"/>
              <a:gd name="T8" fmla="*/ 0 60000 65536"/>
              <a:gd name="T9" fmla="*/ 0 w 5987845"/>
              <a:gd name="T10" fmla="*/ 0 h 516194"/>
              <a:gd name="T11" fmla="*/ 5987845 w 5987845"/>
              <a:gd name="T12" fmla="*/ 516194 h 516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87845" h="516194">
                <a:moveTo>
                  <a:pt x="0" y="0"/>
                </a:moveTo>
                <a:lnTo>
                  <a:pt x="560439" y="516194"/>
                </a:lnTo>
                <a:lnTo>
                  <a:pt x="5987845" y="516194"/>
                </a:lnTo>
              </a:path>
            </a:pathLst>
          </a:custGeom>
          <a:noFill/>
          <a:ln w="9360">
            <a:solidFill>
              <a:srgbClr val="7F7F7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0" name="Freeform 17"/>
          <p:cNvSpPr>
            <a:spLocks noChangeArrowheads="1"/>
          </p:cNvSpPr>
          <p:nvPr/>
        </p:nvSpPr>
        <p:spPr bwMode="auto">
          <a:xfrm>
            <a:off x="2922588" y="3822700"/>
            <a:ext cx="5992812" cy="430213"/>
          </a:xfrm>
          <a:custGeom>
            <a:avLst/>
            <a:gdLst>
              <a:gd name="T0" fmla="*/ 0 w 5987845"/>
              <a:gd name="T1" fmla="*/ 0 h 516194"/>
              <a:gd name="T2" fmla="*/ 566043 w 5987845"/>
              <a:gd name="T3" fmla="*/ 368812 h 516194"/>
              <a:gd name="T4" fmla="*/ 6047722 w 5987845"/>
              <a:gd name="T5" fmla="*/ 368812 h 516194"/>
              <a:gd name="T6" fmla="*/ 0 60000 65536"/>
              <a:gd name="T7" fmla="*/ 0 60000 65536"/>
              <a:gd name="T8" fmla="*/ 0 60000 65536"/>
              <a:gd name="T9" fmla="*/ 0 w 5987845"/>
              <a:gd name="T10" fmla="*/ 0 h 516194"/>
              <a:gd name="T11" fmla="*/ 5987845 w 5987845"/>
              <a:gd name="T12" fmla="*/ 516194 h 516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87845" h="516194">
                <a:moveTo>
                  <a:pt x="0" y="0"/>
                </a:moveTo>
                <a:lnTo>
                  <a:pt x="560439" y="516194"/>
                </a:lnTo>
                <a:lnTo>
                  <a:pt x="5987845" y="516194"/>
                </a:lnTo>
              </a:path>
            </a:pathLst>
          </a:custGeom>
          <a:noFill/>
          <a:ln w="9360">
            <a:solidFill>
              <a:srgbClr val="7F7F7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1" name="Freeform 18"/>
          <p:cNvSpPr>
            <a:spLocks noChangeArrowheads="1"/>
          </p:cNvSpPr>
          <p:nvPr/>
        </p:nvSpPr>
        <p:spPr bwMode="auto">
          <a:xfrm>
            <a:off x="2922588" y="4471988"/>
            <a:ext cx="5992812" cy="430212"/>
          </a:xfrm>
          <a:custGeom>
            <a:avLst/>
            <a:gdLst>
              <a:gd name="T0" fmla="*/ 0 w 5987845"/>
              <a:gd name="T1" fmla="*/ 0 h 516194"/>
              <a:gd name="T2" fmla="*/ 566043 w 5987845"/>
              <a:gd name="T3" fmla="*/ 356559 h 516194"/>
              <a:gd name="T4" fmla="*/ 6047722 w 5987845"/>
              <a:gd name="T5" fmla="*/ 356559 h 516194"/>
              <a:gd name="T6" fmla="*/ 0 60000 65536"/>
              <a:gd name="T7" fmla="*/ 0 60000 65536"/>
              <a:gd name="T8" fmla="*/ 0 60000 65536"/>
              <a:gd name="T9" fmla="*/ 0 w 5987845"/>
              <a:gd name="T10" fmla="*/ 0 h 516194"/>
              <a:gd name="T11" fmla="*/ 5987845 w 5987845"/>
              <a:gd name="T12" fmla="*/ 516194 h 516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87845" h="516194">
                <a:moveTo>
                  <a:pt x="0" y="0"/>
                </a:moveTo>
                <a:lnTo>
                  <a:pt x="560439" y="516194"/>
                </a:lnTo>
                <a:lnTo>
                  <a:pt x="5987845" y="516194"/>
                </a:lnTo>
              </a:path>
            </a:pathLst>
          </a:custGeom>
          <a:noFill/>
          <a:ln w="9360">
            <a:solidFill>
              <a:srgbClr val="7F7F7F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2" name="Oval 19"/>
          <p:cNvSpPr>
            <a:spLocks noChangeArrowheads="1"/>
          </p:cNvSpPr>
          <p:nvPr/>
        </p:nvSpPr>
        <p:spPr bwMode="auto">
          <a:xfrm>
            <a:off x="3259138" y="1468438"/>
            <a:ext cx="381000" cy="3175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738AC8"/>
            </a:solidFill>
            <a:miter lim="800000"/>
          </a:ln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altLang="zh-CN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83" name="Oval 20"/>
          <p:cNvSpPr>
            <a:spLocks noChangeArrowheads="1"/>
          </p:cNvSpPr>
          <p:nvPr/>
        </p:nvSpPr>
        <p:spPr bwMode="auto">
          <a:xfrm>
            <a:off x="3259138" y="2235200"/>
            <a:ext cx="381000" cy="3175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738AC8"/>
            </a:solidFill>
            <a:miter lim="800000"/>
          </a:ln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altLang="zh-CN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84" name="Oval 21"/>
          <p:cNvSpPr>
            <a:spLocks noChangeArrowheads="1"/>
          </p:cNvSpPr>
          <p:nvPr/>
        </p:nvSpPr>
        <p:spPr bwMode="auto">
          <a:xfrm>
            <a:off x="3259138" y="2965450"/>
            <a:ext cx="381000" cy="3175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738AC8"/>
            </a:solidFill>
            <a:miter lim="800000"/>
          </a:ln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GB" altLang="zh-CN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85" name="Oval 22"/>
          <p:cNvSpPr>
            <a:spLocks noChangeArrowheads="1"/>
          </p:cNvSpPr>
          <p:nvPr/>
        </p:nvSpPr>
        <p:spPr bwMode="auto">
          <a:xfrm>
            <a:off x="3259138" y="3719513"/>
            <a:ext cx="381000" cy="3175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738AC8"/>
            </a:solidFill>
            <a:miter lim="800000"/>
          </a:ln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GB" altLang="zh-CN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86" name="Oval 23"/>
          <p:cNvSpPr>
            <a:spLocks noChangeArrowheads="1"/>
          </p:cNvSpPr>
          <p:nvPr/>
        </p:nvSpPr>
        <p:spPr bwMode="auto">
          <a:xfrm>
            <a:off x="3259138" y="4354513"/>
            <a:ext cx="381000" cy="317500"/>
          </a:xfrm>
          <a:prstGeom prst="ellipse">
            <a:avLst/>
          </a:prstGeom>
          <a:solidFill>
            <a:srgbClr val="FFFFFF"/>
          </a:solidFill>
          <a:ln w="9360">
            <a:solidFill>
              <a:srgbClr val="738AC8"/>
            </a:solidFill>
            <a:miter lim="800000"/>
          </a:ln>
        </p:spPr>
        <p:txBody>
          <a:bodyPr lIns="90000" tIns="46800" rIns="90000" bIns="46800" anchor="ctr"/>
          <a:lstStyle>
            <a:lvl1pPr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449580" eaLnBrk="0" hangingPunct="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r>
              <a:rPr lang="en-GB" altLang="zh-CN" sz="2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GB" altLang="zh-CN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2788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工作状态、过程</a:t>
              </a:r>
              <a:endParaRPr lang="zh-CN" altLang="en-US" sz="16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单圆角矩形 26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  <p:bldP spid="6150" grpId="0"/>
      <p:bldP spid="6151" grpId="0"/>
      <p:bldP spid="61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DB24A6-90AA-44D7-892A-712C21183144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1749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工作中的问题</a:t>
              </a:r>
              <a:endParaRPr lang="zh-CN" altLang="en-US" sz="16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单圆角矩形 6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52425" y="1417638"/>
            <a:ext cx="5437188" cy="2354262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marL="177800" indent="-1778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公司需求急、规划不到位，（不能未雨绸缪）浪费了一定时间；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在数据基础上做开发，本身就是一种难度，和时间上的考验；</a:t>
            </a:r>
            <a:endParaRPr lang="en-US" altLang="zh-CN" sz="14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部分员工心态不对，不能对等考虑其它同事的困难；</a:t>
            </a:r>
            <a:endParaRPr lang="en-US" altLang="zh-CN" sz="14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技术问题不是问题，但要作最好；</a:t>
            </a:r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47BAE23-6DF4-4355-919E-03A132FC4AF0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单圆角矩形 4"/>
          <p:cNvSpPr/>
          <p:nvPr/>
        </p:nvSpPr>
        <p:spPr>
          <a:xfrm flipV="1">
            <a:off x="4610100" y="227013"/>
            <a:ext cx="4357688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68750" y="962025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46800" y="2497138"/>
            <a:ext cx="1108075" cy="2170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9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0728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 dirty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一句话总结自己</a:t>
              </a:r>
              <a:endParaRPr lang="zh-CN" altLang="en-US" sz="1600" b="1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单圆角矩形 13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 bwMode="auto">
          <a:xfrm>
            <a:off x="227013" y="2713038"/>
            <a:ext cx="5929312" cy="638175"/>
            <a:chOff x="227013" y="2713038"/>
            <a:chExt cx="5929312" cy="638175"/>
          </a:xfrm>
        </p:grpSpPr>
        <p:sp>
          <p:nvSpPr>
            <p:cNvPr id="30726" name="Rectangle 15"/>
            <p:cNvSpPr>
              <a:spLocks noChangeArrowheads="1"/>
            </p:cNvSpPr>
            <p:nvPr/>
          </p:nvSpPr>
          <p:spPr bwMode="auto">
            <a:xfrm>
              <a:off x="468313" y="2713038"/>
              <a:ext cx="5688012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 dirty="0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一句话总结工作过程</a:t>
              </a:r>
              <a:endParaRPr lang="zh-CN" altLang="en-US" sz="1600" b="1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单圆角矩形 14"/>
            <p:cNvSpPr/>
            <p:nvPr/>
          </p:nvSpPr>
          <p:spPr>
            <a:xfrm>
              <a:off x="227013" y="2713038"/>
              <a:ext cx="144462" cy="638175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608E7A-F28A-4330-B19B-CC14EB5F651A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单圆角矩形 4"/>
          <p:cNvSpPr/>
          <p:nvPr/>
        </p:nvSpPr>
        <p:spPr>
          <a:xfrm flipV="1">
            <a:off x="4610100" y="227013"/>
            <a:ext cx="4357688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68750" y="962025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46800" y="2497138"/>
            <a:ext cx="1108075" cy="2170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7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39B164-E5EF-4A67-B329-F67FBA1532DB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6869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培训学习</a:t>
              </a:r>
              <a:endParaRPr lang="zh-CN" altLang="en-US" sz="16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单圆角矩形 6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868" name="矩形 1"/>
          <p:cNvSpPr>
            <a:spLocks noChangeArrowheads="1"/>
          </p:cNvSpPr>
          <p:nvPr/>
        </p:nvSpPr>
        <p:spPr bwMode="auto">
          <a:xfrm>
            <a:off x="2517775" y="2673350"/>
            <a:ext cx="4108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工作既学习，学习既工作，学以致用！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54D6CB-65AF-4D7E-8E03-0BA8A3F8C530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7891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88" y="-22225"/>
            <a:ext cx="5078412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7894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学习我最棒</a:t>
              </a:r>
              <a:endParaRPr lang="zh-CN" altLang="en-US" sz="16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单圆角矩形 7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395288" y="1371600"/>
            <a:ext cx="5184775" cy="1938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171450" indent="-1714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就当当网统计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阅读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30-50%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F719ED-DB15-4683-A255-6DDC6E895A34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 bwMode="auto">
          <a:xfrm>
            <a:off x="179388" y="431800"/>
            <a:ext cx="5835650" cy="636588"/>
            <a:chOff x="179388" y="431800"/>
            <a:chExt cx="5835650" cy="636588"/>
          </a:xfrm>
        </p:grpSpPr>
        <p:sp>
          <p:nvSpPr>
            <p:cNvPr id="38917" name="Rectangle 14"/>
            <p:cNvSpPr>
              <a:spLocks noChangeArrowheads="1"/>
            </p:cNvSpPr>
            <p:nvPr/>
          </p:nvSpPr>
          <p:spPr bwMode="auto">
            <a:xfrm>
              <a:off x="430213" y="566275"/>
              <a:ext cx="5584825" cy="35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4000"/>
                </a:lnSpc>
              </a:pPr>
              <a:r>
                <a:rPr lang="zh-CN" altLang="en-US" sz="1600" b="1">
                  <a:solidFill>
                    <a:srgbClr val="FFC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培训学习</a:t>
              </a:r>
              <a:endParaRPr lang="zh-CN" altLang="en-US" sz="16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单圆角矩形 6"/>
            <p:cNvSpPr/>
            <p:nvPr/>
          </p:nvSpPr>
          <p:spPr>
            <a:xfrm>
              <a:off x="179388" y="431800"/>
              <a:ext cx="144462" cy="636588"/>
            </a:xfrm>
            <a:prstGeom prst="round1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331640" y="1371600"/>
            <a:ext cx="5184824" cy="212365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171450" indent="-1714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自费学习培训、考认证：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微软雅黑" panose="020B0503020204020204" pitchFamily="34" charset="-122"/>
              </a:rPr>
              <a:t>Oracle </a:t>
            </a:r>
            <a:r>
              <a:rPr lang="en-US" altLang="zh-CN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微软雅黑" panose="020B0503020204020204" pitchFamily="34" charset="-122"/>
              </a:rPr>
              <a:t>Certification Program</a:t>
            </a:r>
            <a:endParaRPr lang="en-US" altLang="zh-CN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IBM AIX System</a:t>
            </a:r>
            <a:endParaRPr lang="en-US" altLang="zh-CN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职称英语（综合</a:t>
            </a:r>
            <a:r>
              <a:rPr lang="zh-CN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微软雅黑" panose="020B0503020204020204" pitchFamily="34" charset="-122"/>
              </a:rPr>
              <a:t>Oracle Certified </a:t>
            </a:r>
            <a:r>
              <a:rPr lang="en-US" altLang="zh-CN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ea typeface="微软雅黑" panose="020B0503020204020204" pitchFamily="34" charset="-122"/>
              </a:rPr>
              <a:t>Associate</a:t>
            </a:r>
            <a:endParaRPr lang="en-US" altLang="zh-CN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116C1A-FC57-4E7C-81E0-6DE3962D73EE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单圆角矩形 4"/>
          <p:cNvSpPr/>
          <p:nvPr/>
        </p:nvSpPr>
        <p:spPr>
          <a:xfrm flipV="1">
            <a:off x="4610100" y="227013"/>
            <a:ext cx="4357688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68750" y="962025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146800" y="2497138"/>
            <a:ext cx="1108075" cy="2170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015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单圆角矩形 12"/>
          <p:cNvSpPr/>
          <p:nvPr/>
        </p:nvSpPr>
        <p:spPr>
          <a:xfrm flipH="1" flipV="1">
            <a:off x="611188" y="3060700"/>
            <a:ext cx="7921625" cy="1944688"/>
          </a:xfrm>
          <a:prstGeom prst="round1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4035" name="Text Box 8"/>
          <p:cNvSpPr txBox="1">
            <a:spLocks noChangeArrowheads="1"/>
          </p:cNvSpPr>
          <p:nvPr/>
        </p:nvSpPr>
        <p:spPr bwMode="auto">
          <a:xfrm>
            <a:off x="176213" y="4810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20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年工作计划表</a:t>
            </a:r>
            <a:endParaRPr lang="zh-CN" altLang="en-US" sz="2000" b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4" name="Text Box 10"/>
          <p:cNvSpPr txBox="1">
            <a:spLocks noChangeArrowheads="1"/>
          </p:cNvSpPr>
          <p:nvPr/>
        </p:nvSpPr>
        <p:spPr bwMode="auto">
          <a:xfrm>
            <a:off x="395288" y="3578225"/>
            <a:ext cx="7489825" cy="18002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857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37" name="Rectangle 14"/>
          <p:cNvSpPr>
            <a:spLocks noChangeArrowheads="1"/>
          </p:cNvSpPr>
          <p:nvPr/>
        </p:nvSpPr>
        <p:spPr bwMode="auto">
          <a:xfrm>
            <a:off x="269875" y="3030538"/>
            <a:ext cx="3238500" cy="3667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重点介绍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38" name="矩形 11"/>
          <p:cNvSpPr>
            <a:spLocks noChangeArrowheads="1"/>
          </p:cNvSpPr>
          <p:nvPr/>
        </p:nvSpPr>
        <p:spPr bwMode="auto">
          <a:xfrm>
            <a:off x="250825" y="912813"/>
            <a:ext cx="7561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1188" y="881063"/>
          <a:ext cx="7899400" cy="2125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77"/>
                <a:gridCol w="1619901"/>
                <a:gridCol w="1448382"/>
                <a:gridCol w="4640540"/>
              </a:tblGrid>
              <a:tr h="177139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2013</a:t>
                      </a:r>
                      <a:r>
                        <a:rPr lang="zh-CN" altLang="en-US" sz="1100" u="none" strike="noStrike">
                          <a:effectLst/>
                        </a:rPr>
                        <a:t>年数据信息部软件开发思路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13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工作方向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内容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目标要求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原有工作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hMerge="1">
                  <a:tcPr/>
                </a:tc>
              </a:tr>
              <a:tr h="17713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流向系统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框架统一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系统框架主要是开发人员对开发代码的规划，有利于提高开发速度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新的界面开发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将英克界面换掉，用我开发的界面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功能改进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1.</a:t>
                      </a:r>
                      <a:r>
                        <a:rPr lang="zh-CN" altLang="en-US" sz="1100" u="none" strike="noStrike">
                          <a:effectLst/>
                        </a:rPr>
                        <a:t>数据安全</a:t>
                      </a:r>
                      <a:r>
                        <a:rPr lang="en-US" altLang="zh-CN" sz="1100" u="none" strike="noStrike">
                          <a:effectLst/>
                        </a:rPr>
                        <a:t>2.</a:t>
                      </a:r>
                      <a:r>
                        <a:rPr lang="zh-CN" altLang="en-US" sz="1100" u="none" strike="noStrike">
                          <a:effectLst/>
                        </a:rPr>
                        <a:t>流向变更</a:t>
                      </a:r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r>
                        <a:rPr lang="zh-CN" altLang="en-US" sz="1100" u="none" strike="noStrike">
                          <a:effectLst/>
                        </a:rPr>
                        <a:t>规则判断</a:t>
                      </a:r>
                      <a:r>
                        <a:rPr lang="en-US" altLang="zh-CN" sz="1100" u="none" strike="noStrike">
                          <a:effectLst/>
                        </a:rPr>
                        <a:t>4.</a:t>
                      </a:r>
                      <a:r>
                        <a:rPr lang="zh-CN" altLang="en-US" sz="1100" u="none" strike="noStrike">
                          <a:effectLst/>
                        </a:rPr>
                        <a:t>常规流向报表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HR</a:t>
                      </a:r>
                      <a:r>
                        <a:rPr lang="zh-CN" altLang="en-US" sz="1100" u="none" strike="noStrike">
                          <a:effectLst/>
                        </a:rPr>
                        <a:t>系统的搭建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HR</a:t>
                      </a:r>
                      <a:r>
                        <a:rPr lang="zh-CN" altLang="en-US" sz="1100" u="none" strike="noStrike">
                          <a:effectLst/>
                        </a:rPr>
                        <a:t>框架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确定是简单框架还是复杂框架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HR</a:t>
                      </a:r>
                      <a:r>
                        <a:rPr lang="zh-CN" altLang="en-US" sz="1100" u="none" strike="noStrike">
                          <a:effectLst/>
                        </a:rPr>
                        <a:t>基础部分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由框架决定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CRM</a:t>
                      </a:r>
                      <a:r>
                        <a:rPr lang="zh-CN" altLang="en-US" sz="1100" u="none" strike="noStrike">
                          <a:effectLst/>
                        </a:rPr>
                        <a:t>系统的搭建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CRM</a:t>
                      </a:r>
                      <a:r>
                        <a:rPr lang="zh-CN" altLang="en-US" sz="1100" u="none" strike="noStrike">
                          <a:effectLst/>
                        </a:rPr>
                        <a:t>框架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根据预收款和协议确定框架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CRM</a:t>
                      </a:r>
                      <a:r>
                        <a:rPr lang="zh-CN" altLang="en-US" sz="1100" u="none" strike="noStrike">
                          <a:effectLst/>
                        </a:rPr>
                        <a:t>基础部分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只做基础资料和别名管理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财务预收款管理部分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>
                          <a:effectLst/>
                        </a:rPr>
                        <a:t>理论已经解决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  <a:tr h="17713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商务协议管理部分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 dirty="0">
                          <a:effectLst/>
                        </a:rPr>
                        <a:t>理论已经解决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4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单圆角矩形 12"/>
          <p:cNvSpPr/>
          <p:nvPr/>
        </p:nvSpPr>
        <p:spPr>
          <a:xfrm flipH="1" flipV="1">
            <a:off x="468313" y="2986088"/>
            <a:ext cx="8207375" cy="1943100"/>
          </a:xfrm>
          <a:prstGeom prst="round1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5059" name="Text Box 8"/>
          <p:cNvSpPr txBox="1">
            <a:spLocks noChangeArrowheads="1"/>
          </p:cNvSpPr>
          <p:nvPr/>
        </p:nvSpPr>
        <p:spPr bwMode="auto">
          <a:xfrm>
            <a:off x="176213" y="4810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20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年培训学习计划表</a:t>
            </a:r>
            <a:endParaRPr lang="zh-CN" altLang="en-US" sz="2000" b="1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60" name="Rectangle 14"/>
          <p:cNvSpPr>
            <a:spLocks noChangeArrowheads="1"/>
          </p:cNvSpPr>
          <p:nvPr/>
        </p:nvSpPr>
        <p:spPr bwMode="auto">
          <a:xfrm>
            <a:off x="284163" y="2989263"/>
            <a:ext cx="3238500" cy="3667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重点介绍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61" name="矩形 11"/>
          <p:cNvSpPr>
            <a:spLocks noChangeArrowheads="1"/>
          </p:cNvSpPr>
          <p:nvPr/>
        </p:nvSpPr>
        <p:spPr bwMode="auto">
          <a:xfrm>
            <a:off x="250825" y="912813"/>
            <a:ext cx="7561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313" y="984250"/>
          <a:ext cx="8229600" cy="1585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747"/>
                <a:gridCol w="1598894"/>
                <a:gridCol w="1429599"/>
                <a:gridCol w="4580360"/>
              </a:tblGrid>
              <a:tr h="52863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2013</a:t>
                      </a:r>
                      <a:r>
                        <a:rPr lang="zh-CN" altLang="en-US" sz="1100" u="none" strike="noStrike">
                          <a:effectLst/>
                        </a:rPr>
                        <a:t>年学习培训计划表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286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OEM</a:t>
                      </a:r>
                      <a:r>
                        <a:rPr lang="zh-CN" altLang="en-US" sz="1100" u="none" strike="noStrike">
                          <a:effectLst/>
                        </a:rPr>
                        <a:t>培训、认证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r>
                        <a:rPr lang="zh-CN" altLang="en-US" sz="1100" u="none" strike="noStrike">
                          <a:effectLst/>
                        </a:rPr>
                        <a:t>个月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ORACLE</a:t>
                      </a:r>
                      <a:r>
                        <a:rPr lang="zh-CN" altLang="en-US" sz="1100" u="none" strike="noStrike">
                          <a:effectLst/>
                        </a:rPr>
                        <a:t>最高级认证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</a:tr>
              <a:tr h="5286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sap</a:t>
                      </a:r>
                      <a:r>
                        <a:rPr lang="zh-CN" altLang="en-US" sz="1100" u="none" strike="noStrike">
                          <a:effectLst/>
                        </a:rPr>
                        <a:t>自学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下半年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了解国外的</a:t>
                      </a:r>
                      <a:r>
                        <a:rPr lang="en-US" altLang="zh-CN" sz="1100" u="none" strike="noStrike" dirty="0">
                          <a:effectLst/>
                        </a:rPr>
                        <a:t>ERP</a:t>
                      </a:r>
                      <a:r>
                        <a:rPr lang="zh-CN" altLang="en-US" sz="1100" u="none" strike="noStrike" dirty="0">
                          <a:effectLst/>
                        </a:rPr>
                        <a:t>业务流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395" marR="9395" marT="9397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5E8486-E08A-4CE8-AF56-D9753321371C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单圆角矩形 4"/>
          <p:cNvSpPr/>
          <p:nvPr/>
        </p:nvSpPr>
        <p:spPr>
          <a:xfrm flipV="1">
            <a:off x="4643438" y="227013"/>
            <a:ext cx="4357687" cy="5307012"/>
          </a:xfrm>
          <a:prstGeom prst="round1Rect">
            <a:avLst>
              <a:gd name="adj" fmla="val 9703"/>
            </a:avLst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单圆角矩形 5"/>
          <p:cNvSpPr/>
          <p:nvPr/>
        </p:nvSpPr>
        <p:spPr>
          <a:xfrm flipH="1">
            <a:off x="3970338" y="946150"/>
            <a:ext cx="3816350" cy="1263650"/>
          </a:xfrm>
          <a:prstGeom prst="round1Rect">
            <a:avLst>
              <a:gd name="adj" fmla="val 3275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95738" y="1577975"/>
            <a:ext cx="144462" cy="6477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6086" name="TextBox 7"/>
          <p:cNvSpPr txBox="1">
            <a:spLocks noChangeArrowheads="1"/>
          </p:cNvSpPr>
          <p:nvPr/>
        </p:nvSpPr>
        <p:spPr bwMode="auto">
          <a:xfrm>
            <a:off x="6146800" y="2497138"/>
            <a:ext cx="1108075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岗位认识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工作回顾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工作总结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工作计划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问题建议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7" name="TextBox 8" hidden="1"/>
          <p:cNvSpPr txBox="1">
            <a:spLocks noChangeArrowheads="1"/>
          </p:cNvSpPr>
          <p:nvPr/>
        </p:nvSpPr>
        <p:spPr bwMode="auto">
          <a:xfrm>
            <a:off x="7629525" y="2522538"/>
            <a:ext cx="312738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endParaRPr lang="en-US" altLang="zh-CN" b="1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10"/>
          <p:cNvSpPr txBox="1">
            <a:spLocks noChangeArrowheads="1"/>
          </p:cNvSpPr>
          <p:nvPr/>
        </p:nvSpPr>
        <p:spPr bwMode="auto">
          <a:xfrm>
            <a:off x="179388" y="1236663"/>
            <a:ext cx="7489825" cy="1981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857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有三个人，但归属两个部门，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资源配置是否合理？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每个人在干嘛其它人都不知道！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3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个人没有统一的衔接。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软件、硬件、服务器等资产谁负责管理？谁负责使用安装？谁负责监督？每个人应该做什么？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336550"/>
            <a:ext cx="3238500" cy="36671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9750" y="3865563"/>
            <a:ext cx="5903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/>
              <a:t>结果</a:t>
            </a:r>
            <a:endParaRPr lang="en-US" altLang="zh-CN" sz="1400"/>
          </a:p>
          <a:p>
            <a:pPr eaLnBrk="1" hangingPunct="1"/>
            <a:r>
              <a:rPr lang="en-US" altLang="zh-CN" sz="1400"/>
              <a:t>        </a:t>
            </a:r>
            <a:r>
              <a:rPr lang="zh-CN" altLang="en-US" sz="1400"/>
              <a:t>一个和尚打水喝，二个和尚抬水喝，三个和尚没水喝！</a:t>
            </a:r>
            <a:endParaRPr lang="zh-CN" altLang="en-US" sz="140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00405" y="3399790"/>
            <a:ext cx="4071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岗位职责模糊</a:t>
            </a:r>
            <a:r>
              <a:rPr lang="en-US" altLang="zh-CN"/>
              <a:t>,</a:t>
            </a:r>
            <a:r>
              <a:rPr lang="zh-CN" altLang="en-US"/>
              <a:t>工作不平衡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8" grpId="0" animBg="1"/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Text Box 10"/>
          <p:cNvSpPr txBox="1">
            <a:spLocks noChangeArrowheads="1"/>
          </p:cNvSpPr>
          <p:nvPr/>
        </p:nvSpPr>
        <p:spPr bwMode="auto">
          <a:xfrm>
            <a:off x="1937703" y="1778635"/>
            <a:ext cx="2376487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员工缺乏安全感 奖罚发现一个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bug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五元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员工缺乏归属感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员工缺乏上进感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336550"/>
            <a:ext cx="3238500" cy="36671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950913" y="1200150"/>
            <a:ext cx="34051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建议制订统一的员工沟通守则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8" grpId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A3C4B9-D579-4ECD-94B7-6CFFD91189E0}" type="slidenum">
              <a:rPr lang="zh-CN" altLang="en-US">
                <a:solidFill>
                  <a:schemeClr val="bg1"/>
                </a:solidFill>
              </a:rPr>
            </a:fld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538ff422f1cf0</Template>
  <TotalTime>0</TotalTime>
  <Words>1624</Words>
  <Application>WPS 演示</Application>
  <PresentationFormat>全屏显示(16:10)</PresentationFormat>
  <Paragraphs>367</Paragraphs>
  <Slides>21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Times New Roman</vt:lpstr>
      <vt:lpstr>Arial Unicode MS</vt:lpstr>
      <vt:lpstr>Office 主题​​</vt:lpstr>
      <vt:lpstr>1_Office 主题​​</vt:lpstr>
      <vt:lpstr>述职报告书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行业观察站</dc:title>
  <dc:creator>Sophie</dc:creator>
  <cp:lastModifiedBy>hbte</cp:lastModifiedBy>
  <cp:revision>271</cp:revision>
  <dcterms:created xsi:type="dcterms:W3CDTF">2011-05-05T08:45:00Z</dcterms:created>
  <dcterms:modified xsi:type="dcterms:W3CDTF">2020-01-03T11:05:24Z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2052-11.8.2.8053</vt:lpwstr>
  </property>
</Properties>
</file>